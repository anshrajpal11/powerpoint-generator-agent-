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image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8046720" cy="57607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97280" y="5257800"/>
            <a:ext cx="6949440" cy="822960"/>
          </a:xfrm>
          <a:prstGeom prst="rect">
            <a:avLst/>
          </a:prstGeom>
          <a:solidFill>
            <a:srgbClr val="60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5349240"/>
            <a:ext cx="6675120" cy="82296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Navigating the Classroom Continuum: Online vs. Offline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3737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Generated with Powerpoint Generator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8046720" cy="5760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0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280160"/>
            <a:ext cx="4506163" cy="100584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</a:defRPr>
            </a:pPr>
            <a:r>
              <a:t>Our Learning Journey: 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23160"/>
            <a:ext cx="4506163" cy="347472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</a:defRPr>
            </a:pPr>
            <a:r>
              <a:t>• Unpack higher education's evolving landscape. • Deconstruct online learning advantages. • Explore traditional classroom strengths. • Identify key distinctions and considerations. • Conclude with optimal learning environment selection.</a:t>
            </a:r>
          </a:p>
        </p:txBody>
      </p:sp>
      <p:pic>
        <p:nvPicPr>
          <p:cNvPr id="5" name="Picture 4" descr="temp_image_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443" y="1280160"/>
            <a:ext cx="2443277" cy="36677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643737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Generated with Powerpoint Generator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8046720" cy="5760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0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280160"/>
            <a:ext cx="4506163" cy="100584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</a:defRPr>
            </a:pPr>
            <a:r>
              <a:t>Online Learning: Key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23160"/>
            <a:ext cx="4506163" cy="347472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</a:defRPr>
            </a:pPr>
            <a:r>
              <a:t>• Flexibility : Learn anytime, anywhere, accommodating diverse schedules. • Self-Paced : Control your rhythm, revisit complex topics as needed. • Diverse Resources : Access digital materials, simulations, global views. • Skill Development : Fosters self-discipline, digital literacy, problem-solving.</a:t>
            </a:r>
          </a:p>
        </p:txBody>
      </p:sp>
      <p:pic>
        <p:nvPicPr>
          <p:cNvPr id="5" name="Picture 4" descr="temp_image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443" y="1280160"/>
            <a:ext cx="2443277" cy="1629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643737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Generated with Powerpoint Generator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8046720" cy="5760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0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mp_image_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322839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5542" y="1280160"/>
            <a:ext cx="3021178" cy="82296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</a:defRPr>
            </a:pPr>
            <a:r>
              <a:t>Traditional Classroom: Enduring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5542" y="2194560"/>
            <a:ext cx="3021178" cy="365760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</a:defRPr>
            </a:pPr>
            <a:r>
              <a:t>• Direct Interaction : Dynamic engagement with professors and peers. • Structured Environment : Dedicated space minimizes distractions, fosters routine. • Campus Community : Build networks, participate in clubs, engage in life. • Hands-On Learning : Access labs, studios, and direct mentorship.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3737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Generated with Powerpoint Generator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8046720" cy="5760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0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8046720" cy="82296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</a:defRPr>
            </a:pPr>
            <a:r>
              <a:t>Online vs. Offline: Key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3621024" cy="429768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</a:defRPr>
            </a:pPr>
            <a:r>
              <a:t>• Online: Asynchronous, digital interaction, remote setting, digital resources, self-driven accountability.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2934" y="2011680"/>
            <a:ext cx="3621024" cy="429768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</a:defRPr>
            </a:pPr>
            <a:r>
              <a:t>• Offline: Fixed schedule, in-person interaction, physical campus, direct access, fixed accountability.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3737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Generated with Powerpoint Generator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8046720" cy="5760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0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280160"/>
            <a:ext cx="4506163" cy="100584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</a:defRPr>
            </a:pPr>
            <a:r>
              <a:t>Student Insights: Data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23160"/>
            <a:ext cx="4506163" cy="347472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</a:defRPr>
            </a:pPr>
            <a:r>
              <a:t>• 70% value flexibility in course choice. • 45% report improved focus offline. • 25% of online students feel less connected. • Many seek hybrid models for balance.</a:t>
            </a:r>
          </a:p>
        </p:txBody>
      </p:sp>
      <p:pic>
        <p:nvPicPr>
          <p:cNvPr id="5" name="Picture 4" descr="temp_image_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443" y="1280160"/>
            <a:ext cx="2443277" cy="36762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643737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Generated with Powerpoint Generator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8046720" cy="5760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0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280160"/>
            <a:ext cx="4506163" cy="100584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</a:defRPr>
            </a:pPr>
            <a:r>
              <a:t>Online Learning: Common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23160"/>
            <a:ext cx="4506163" cy="347472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</a:defRPr>
            </a:pPr>
            <a:r>
              <a:t>• Self-Discipline : Requires strong self-management and initiative. • Technological Barriers : Relies on stable internet, compatible devices. • Reduced Social Cues : Can lead to isolation, collaboration difficulties. • Blurred Boundaries : Maintaining work-life balance is challenging.</a:t>
            </a:r>
          </a:p>
        </p:txBody>
      </p:sp>
      <p:pic>
        <p:nvPicPr>
          <p:cNvPr id="5" name="Picture 4" descr="temp_image_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443" y="1280160"/>
            <a:ext cx="2443277" cy="36762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643737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Generated with Powerpoint Generator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8046720" cy="5760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0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8046720" cy="82296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</a:defRPr>
            </a:pPr>
            <a:r>
              <a:t>Offline Learning: Potential Obstacles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3621024" cy="429768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</a:defRPr>
            </a:pPr>
            <a:r>
              <a:t>• Rigid Scheduling : Less flexibility for external commitments. • Commute &amp; Logistics : Time, cost, and stress of travel.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2934" y="2011680"/>
            <a:ext cx="3621024" cy="429768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</a:defRPr>
            </a:pPr>
            <a:r>
              <a:t>• Limited Accessibility : Geographic or physical access challenges. • Classroom Dynamics : Large lectures can limit personalized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3737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Generated with Powerpoint Generator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8046720" cy="5760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0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mp_image_sli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3379622" cy="19019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5542" y="1280160"/>
            <a:ext cx="3021178" cy="82296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</a:defRPr>
            </a:pPr>
            <a:r>
              <a:t>Choosing Your Path: Strategic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5542" y="2194560"/>
            <a:ext cx="3021178" cy="365760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</a:defRPr>
            </a:pPr>
            <a:r>
              <a:t>• Assess Your Style : Are you self-directed or interaction-driven? • Evaluate Schedule : What are your commitments and flexibility needs? • Consider Content : Does the subject suit a specific format? • Explore Hybrid : Combine online and offline for blended benefits. • Embrace Adaptability : Cultivate resilience and time management skills.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3737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Generated with Powerpoint Generator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8046720" cy="5760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0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" y="2606040"/>
            <a:ext cx="7242048" cy="1645920"/>
          </a:xfrm>
          <a:prstGeom prst="roundRect">
            <a:avLst/>
          </a:prstGeom>
          <a:solidFill>
            <a:srgbClr val="60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9576" y="2715768"/>
            <a:ext cx="6784848" cy="1371600"/>
          </a:xfrm>
          <a:prstGeom prst="rect">
            <a:avLst/>
          </a:prstGeom>
          <a:noFill/>
        </p:spPr>
        <p:txBody>
          <a:bodyPr wrap="square" tIns="54864" lIns="54864" rIns="54864" bIns="54864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““The most effective learning environment empowers YOU to achieve aspirations.””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3737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Generated with Powerpoint Generator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